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29800" y="228600"/>
            <a:ext cx="1371600" cy="13716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5394960"/>
            <a:ext cx="1097280" cy="109728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64240" y="5120640"/>
            <a:ext cx="731520" cy="7315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10504" y="73152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10504" y="731520"/>
            <a:ext cx="1371600" cy="13716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4800" b="1">
                <a:solidFill>
                  <a:srgbClr val="0D9488"/>
                </a:solidFill>
                <a:latin typeface="黑体"/>
              </a:rPr>
              <a:t>词途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10362895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黑体"/>
              </a:rPr>
              <a:t>词途 · AI 英语单词学习闯关系统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10362895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200" b="0">
                <a:solidFill>
                  <a:srgbClr val="CCFBF1"/>
                </a:solidFill>
                <a:latin typeface="微软雅黑"/>
              </a:rPr>
              <a:t>A word a day keeps the worry 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1036289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微软雅黑"/>
              </a:rPr>
              <a:t>—— 基于 5 个本地机器学习模型的百词斩式英语学习工具 ——</a:t>
            </a:r>
          </a:p>
        </p:txBody>
      </p:sp>
      <p:sp>
        <p:nvSpPr>
          <p:cNvPr id="11" name="Oval 10"/>
          <p:cNvSpPr/>
          <p:nvPr/>
        </p:nvSpPr>
        <p:spPr>
          <a:xfrm>
            <a:off x="4084167" y="502920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84167" y="502920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A</a:t>
            </a:r>
          </a:p>
        </p:txBody>
      </p:sp>
      <p:sp>
        <p:nvSpPr>
          <p:cNvPr id="13" name="Oval 12"/>
          <p:cNvSpPr/>
          <p:nvPr/>
        </p:nvSpPr>
        <p:spPr>
          <a:xfrm>
            <a:off x="4587087" y="5029200"/>
            <a:ext cx="457200" cy="4572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7087" y="502920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B</a:t>
            </a:r>
          </a:p>
        </p:txBody>
      </p:sp>
      <p:sp>
        <p:nvSpPr>
          <p:cNvPr id="15" name="Oval 14"/>
          <p:cNvSpPr/>
          <p:nvPr/>
        </p:nvSpPr>
        <p:spPr>
          <a:xfrm>
            <a:off x="5090007" y="5029200"/>
            <a:ext cx="457200" cy="4572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90007" y="502920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C</a:t>
            </a:r>
          </a:p>
        </p:txBody>
      </p:sp>
      <p:sp>
        <p:nvSpPr>
          <p:cNvPr id="17" name="Oval 16"/>
          <p:cNvSpPr/>
          <p:nvPr/>
        </p:nvSpPr>
        <p:spPr>
          <a:xfrm>
            <a:off x="5592927" y="502920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92927" y="502920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D</a:t>
            </a:r>
          </a:p>
        </p:txBody>
      </p:sp>
      <p:sp>
        <p:nvSpPr>
          <p:cNvPr id="19" name="Oval 18"/>
          <p:cNvSpPr/>
          <p:nvPr/>
        </p:nvSpPr>
        <p:spPr>
          <a:xfrm>
            <a:off x="6095847" y="5029200"/>
            <a:ext cx="457200" cy="45720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5847" y="502920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E</a:t>
            </a:r>
          </a:p>
        </p:txBody>
      </p:sp>
      <p:sp>
        <p:nvSpPr>
          <p:cNvPr id="21" name="Oval 20"/>
          <p:cNvSpPr/>
          <p:nvPr/>
        </p:nvSpPr>
        <p:spPr>
          <a:xfrm>
            <a:off x="6598767" y="5029200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98767" y="502920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F</a:t>
            </a:r>
          </a:p>
        </p:txBody>
      </p:sp>
      <p:sp>
        <p:nvSpPr>
          <p:cNvPr id="23" name="Oval 22"/>
          <p:cNvSpPr/>
          <p:nvPr/>
        </p:nvSpPr>
        <p:spPr>
          <a:xfrm>
            <a:off x="7101687" y="5029200"/>
            <a:ext cx="457200" cy="4572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01687" y="502920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G</a:t>
            </a:r>
          </a:p>
        </p:txBody>
      </p:sp>
      <p:sp>
        <p:nvSpPr>
          <p:cNvPr id="25" name="Oval 24"/>
          <p:cNvSpPr/>
          <p:nvPr/>
        </p:nvSpPr>
        <p:spPr>
          <a:xfrm>
            <a:off x="7604607" y="5029200"/>
            <a:ext cx="457200" cy="457200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04607" y="502920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6035040"/>
            <a:ext cx="1036289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微软雅黑"/>
              </a:rPr>
              <a:t>作者: ＿＿＿  |  单位: ＿＿＿  |  覆盖小学/初中/高中  | 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黑体"/>
              </a:rPr>
              <a:t>教学痛点  |  Why we built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6576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33832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DC2626"/>
                </a:solidFill>
                <a:latin typeface="黑体"/>
              </a:rPr>
              <a:t>1. 抄写式背诵效率低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3383280" cy="4251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微软雅黑"/>
              </a:rPr>
              <a:t>传统罚抄式作业机械重复
3 天后遗忘率 &gt; 70%
艾宾浩斯曲线已多次验证：
单纯重复书写无法突破
短期记忆瓶颈
孩子对「背单词」产生抵触
甚至厌学英语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67504" y="1371600"/>
            <a:ext cx="36576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04664" y="1508760"/>
            <a:ext cx="33832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A580C"/>
                </a:solidFill>
                <a:latin typeface="黑体"/>
              </a:rPr>
              <a:t>2. App 课堂落地难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4664" y="2011680"/>
            <a:ext cx="3383280" cy="4251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微软雅黑"/>
              </a:rPr>
              <a:t>百词斩 / 墨墨背单词等
体验优秀但需:
  · 联网
  · 登录账号
  · 绑定手机号
校园机房无法批量部署
广告与付费模块多
低收入家庭难以负担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6895" y="1371600"/>
            <a:ext cx="36576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4055" y="1508760"/>
            <a:ext cx="33832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7C3AED"/>
                </a:solidFill>
                <a:latin typeface="黑体"/>
              </a:rPr>
              <a:t>3. 教师缺乏诊断工具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4055" y="2011680"/>
            <a:ext cx="3383280" cy="4251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微软雅黑"/>
              </a:rPr>
              <a:t>只能凭经验判断薄弱主题
无法量化:
  · 哪个孩子
  · 哪个主题
  · 正确率多少
备课与个辅缺乏依据
个性化教学无从谈起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黑体"/>
              </a:rPr>
              <a:t>解决思路  | 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0F766E"/>
                </a:solidFill>
                <a:latin typeface="黑体"/>
              </a:rPr>
              <a:t>① 百词斩式 4 种题型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54864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182880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黑体"/>
              </a:rPr>
              <a:t>看词选义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微软雅黑"/>
              </a:rPr>
              <a:t>apple → 苹果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834639"/>
            <a:ext cx="54864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834639"/>
            <a:ext cx="182880" cy="9144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926079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6A34A"/>
                </a:solidFill>
                <a:latin typeface="黑体"/>
              </a:rPr>
              <a:t>看义选词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91839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微软雅黑"/>
              </a:rPr>
              <a:t>苹果 → apple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86200"/>
            <a:ext cx="54864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886200"/>
            <a:ext cx="182880" cy="9144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977639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黑体"/>
              </a:rPr>
              <a:t>听音辨词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微软雅黑"/>
              </a:rPr>
              <a:t>/'æpl/ → apple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937759"/>
            <a:ext cx="54864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937759"/>
            <a:ext cx="18288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029199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黑体"/>
              </a:rPr>
              <a:t>拼写练习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394959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微软雅黑"/>
              </a:rPr>
              <a:t>苹果 → a___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8095" y="1188720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0F766E"/>
                </a:solidFill>
                <a:latin typeface="黑体"/>
              </a:rPr>
              <a:t>② 5 个本地 AI 模型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8095" y="1783080"/>
            <a:ext cx="54864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874519"/>
            <a:ext cx="21945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D9488"/>
                </a:solidFill>
                <a:latin typeface="微软雅黑"/>
              </a:rPr>
              <a:t>RandomForest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1874519"/>
            <a:ext cx="30175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微软雅黑"/>
              </a:rPr>
              <a:t>单词主题分类  54.4%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48095" y="2624328"/>
            <a:ext cx="54864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715768"/>
            <a:ext cx="21945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D9488"/>
                </a:solidFill>
                <a:latin typeface="微软雅黑"/>
              </a:rPr>
              <a:t>SVM-RBF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2715768"/>
            <a:ext cx="30175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微软雅黑"/>
              </a:rPr>
              <a:t>句型识别  97.1%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48095" y="3465576"/>
            <a:ext cx="54864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3557016"/>
            <a:ext cx="21945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D9488"/>
                </a:solidFill>
                <a:latin typeface="微软雅黑"/>
              </a:rPr>
              <a:t>Polynomial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3557016"/>
            <a:ext cx="30175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微软雅黑"/>
              </a:rPr>
              <a:t>年级→词汇量  R²=0.992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8095" y="4306824"/>
            <a:ext cx="54864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398264"/>
            <a:ext cx="21945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D9488"/>
                </a:solidFill>
                <a:latin typeface="微软雅黑"/>
              </a:rPr>
              <a:t>Gradient Boost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4398264"/>
            <a:ext cx="30175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微软雅黑"/>
              </a:rPr>
              <a:t>单词难度  99.8%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48095" y="5148072"/>
            <a:ext cx="54864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5239512"/>
            <a:ext cx="21945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D9488"/>
                </a:solidFill>
                <a:latin typeface="微软雅黑"/>
              </a:rPr>
              <a:t>Ensemble GB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5239512"/>
            <a:ext cx="30175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微软雅黑"/>
              </a:rPr>
              <a:t>综合主题  54.5%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黑体"/>
              </a:rPr>
              <a:t>技术全景  | 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4849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371600"/>
            <a:ext cx="274320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1463040"/>
            <a:ext cx="164592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黑体"/>
              </a:rPr>
              <a:t>界面层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463040"/>
            <a:ext cx="731520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微软雅黑"/>
              </a:rPr>
              <a:t>CustomTkinter · 9 个页面 · 清新蓝绿配色 · 单文件 exe</a:t>
            </a:r>
          </a:p>
        </p:txBody>
      </p:sp>
      <p:sp>
        <p:nvSpPr>
          <p:cNvPr id="9" name="Down Arrow 8"/>
          <p:cNvSpPr/>
          <p:nvPr/>
        </p:nvSpPr>
        <p:spPr>
          <a:xfrm>
            <a:off x="5943600" y="2148840"/>
            <a:ext cx="274320" cy="13716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71600" y="2286000"/>
            <a:ext cx="944849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1600" y="2286000"/>
            <a:ext cx="274320" cy="7772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2377440"/>
            <a:ext cx="164592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D9488"/>
                </a:solidFill>
                <a:latin typeface="黑体"/>
              </a:rPr>
              <a:t>应用层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377440"/>
            <a:ext cx="731520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微软雅黑"/>
              </a:rPr>
              <a:t>题目派生器 · 学习记录 · 词库搜索+分页 · 自定义词库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943600" y="3063240"/>
            <a:ext cx="274320" cy="13716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71600" y="3200400"/>
            <a:ext cx="944849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" y="3200400"/>
            <a:ext cx="274320" cy="777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37360" y="3291840"/>
            <a:ext cx="164592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7C3AED"/>
                </a:solidFill>
                <a:latin typeface="黑体"/>
              </a:rPr>
              <a:t>AI 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291840"/>
            <a:ext cx="731520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微软雅黑"/>
              </a:rPr>
              <a:t>5 个 sklearn 模型 · 预训练 pkl 随包发行 · 启动即用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943600" y="3977639"/>
            <a:ext cx="274320" cy="13716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371600" y="4114800"/>
            <a:ext cx="944849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71600" y="4114800"/>
            <a:ext cx="274320" cy="7772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37360" y="4206240"/>
            <a:ext cx="164592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A580C"/>
                </a:solidFill>
                <a:latin typeface="黑体"/>
              </a:rPr>
              <a:t>数据层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206240"/>
            <a:ext cx="731520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微软雅黑"/>
              </a:rPr>
              <a:t>4997 词全量词库（小714/初1496/高2787）· JSON 持久化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303520"/>
            <a:ext cx="11277295" cy="128016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4406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黑体"/>
              </a:rPr>
              <a:t>★ 生成式 AI 全流程介入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89788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0F766E"/>
                </a:solidFill>
                <a:latin typeface="微软雅黑"/>
              </a:rPr>
              <a:t>DeepSeek / 通义千问 / Claude  全程辅助：
词库初稿生成  ·  特征工程头脑风暴  ·  代码骨架  ·  Bug 定位  ·  单元测试用例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黑体"/>
              </a:rPr>
              <a:t>今日演示  |  Agenda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127729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783080"/>
            <a:ext cx="914400" cy="914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91440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黑体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373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黑体"/>
              </a:rPr>
              <a:t>案例概述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28600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微软雅黑"/>
              </a:rPr>
              <a:t>痛点 · 思路 · 技术全景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1965960"/>
            <a:ext cx="27432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800" b="1">
                <a:solidFill>
                  <a:srgbClr val="94A3B8"/>
                </a:solidFill>
                <a:latin typeface="微软雅黑"/>
              </a:rPr>
              <a:t>0:00 — 1:50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08960"/>
            <a:ext cx="1127729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337560"/>
            <a:ext cx="914400" cy="914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337560"/>
            <a:ext cx="91440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黑体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29184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0D9488"/>
                </a:solidFill>
                <a:latin typeface="黑体"/>
              </a:rPr>
              <a:t>实现功能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84048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微软雅黑"/>
              </a:rPr>
              <a:t>5 段录屏 · 闯关 · AI助手 · 句型 · 工具箱 · 词库 · 统计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3520440"/>
            <a:ext cx="27432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800" b="1">
                <a:solidFill>
                  <a:srgbClr val="94A3B8"/>
                </a:solidFill>
                <a:latin typeface="微软雅黑"/>
              </a:rPr>
              <a:t>1:50 — 6:50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663440"/>
            <a:ext cx="1127729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892040"/>
            <a:ext cx="914400" cy="9144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92040"/>
            <a:ext cx="91440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黑体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84632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7C3AED"/>
                </a:solidFill>
                <a:latin typeface="黑体"/>
              </a:rPr>
              <a:t>应用情况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5394959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微软雅黑"/>
              </a:rPr>
              <a:t>课堂场景 · 试用数据 · 影响力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5074920"/>
            <a:ext cx="27432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800" b="1">
                <a:solidFill>
                  <a:srgbClr val="94A3B8"/>
                </a:solidFill>
                <a:latin typeface="微软雅黑"/>
              </a:rPr>
              <a:t>6:50 — 7:50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黑体"/>
              </a:rPr>
              <a:t>应用场景  |  In the classroom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657600" cy="22860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657600" cy="2286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微软雅黑"/>
              </a:rPr>
              <a:t>[ 课堂照片占位 ]
（学生正面请打码）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94760"/>
            <a:ext cx="3657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黑体"/>
              </a:rPr>
              <a:t>课前 5 分钟热身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434840"/>
            <a:ext cx="3657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526280"/>
            <a:ext cx="338328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微软雅黑"/>
              </a:rPr>
              <a:t>全班大屏集体作答
实时正确率反馈
薄弱单词重点讲解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9295" y="1371600"/>
            <a:ext cx="3657600" cy="22860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9295" y="1371600"/>
            <a:ext cx="3657600" cy="2286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微软雅黑"/>
              </a:rPr>
              <a:t>[ 课堂照片占位 ]
（学生正面请打码）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9295" y="3794760"/>
            <a:ext cx="3657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0D9488"/>
                </a:solidFill>
                <a:latin typeface="黑体"/>
              </a:rPr>
              <a:t>机房自主练习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295" y="4434840"/>
            <a:ext cx="3657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6455" y="4526280"/>
            <a:ext cx="338328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微软雅黑"/>
              </a:rPr>
              <a:t>1 人 1 机闯关
错题进入下次抽题池
已掌握单词不再优先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1390" y="1371600"/>
            <a:ext cx="3657600" cy="22860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1390" y="1371600"/>
            <a:ext cx="3657600" cy="2286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微软雅黑"/>
              </a:rPr>
              <a:t>[ 课堂照片占位 ]
（学生正面请打码）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1390" y="3794760"/>
            <a:ext cx="3657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EA580C"/>
                </a:solidFill>
                <a:latin typeface="黑体"/>
              </a:rPr>
              <a:t>教师备课诊断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81390" y="4434840"/>
            <a:ext cx="3657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18550" y="4526280"/>
            <a:ext cx="338328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微软雅黑"/>
              </a:rPr>
              <a:t>查看班级薄弱主题
按主题正确率排序
下周备课主攻薄弱点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黑体"/>
              </a:rPr>
              <a:t>试用效果  |  Outcome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9436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5778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黑体"/>
              </a:rPr>
              <a:t>4 周对比  ·  单词测验平均分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微软雅黑"/>
              </a:rP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577840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微软雅黑"/>
              </a:rP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19" y="3470148"/>
            <a:ext cx="365760" cy="219913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45919" y="3300984"/>
            <a:ext cx="365760" cy="236829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57150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微软雅黑"/>
              </a:rPr>
              <a:t>第1周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104388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微软雅黑"/>
              </a:rPr>
              <a:t>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19" y="2935224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0D9488"/>
                </a:solidFill>
                <a:latin typeface="微软雅黑"/>
              </a:rPr>
              <a:t>70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39" y="3368649"/>
            <a:ext cx="365760" cy="230063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39" y="3030321"/>
            <a:ext cx="365760" cy="263895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39" y="57150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微软雅黑"/>
              </a:rPr>
              <a:t>第2周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39" y="3002889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微软雅黑"/>
              </a:rPr>
              <a:t>68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39" y="2664561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0D9488"/>
                </a:solidFill>
                <a:latin typeface="微软雅黑"/>
              </a:rPr>
              <a:t>78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3300984"/>
            <a:ext cx="365760" cy="2368296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23359" y="2793492"/>
            <a:ext cx="365760" cy="287578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57150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微软雅黑"/>
              </a:rPr>
              <a:t>第3周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2935224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微软雅黑"/>
              </a:rPr>
              <a:t>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59" y="2427732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0D9488"/>
                </a:solidFill>
                <a:latin typeface="微软雅黑"/>
              </a:rPr>
              <a:t>85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3233318"/>
            <a:ext cx="365760" cy="2435961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12080" y="2624328"/>
            <a:ext cx="365760" cy="304495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571500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微软雅黑"/>
              </a:rPr>
              <a:t>第4周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2867558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微软雅黑"/>
              </a:rPr>
              <a:t>72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2258568"/>
            <a:ext cx="3657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0D9488"/>
                </a:solidFill>
                <a:latin typeface="微软雅黑"/>
              </a:rPr>
              <a:t>90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" y="5943600"/>
            <a:ext cx="274320" cy="18288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589788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微软雅黑"/>
              </a:rPr>
              <a:t>对照组（抄写法）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5943600"/>
            <a:ext cx="274320" cy="1828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0" y="5897880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微软雅黑"/>
              </a:rPr>
              <a:t>实验组（本系统）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66560" y="1371600"/>
            <a:ext cx="49377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66560" y="1371600"/>
            <a:ext cx="182880" cy="15087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0" y="1508760"/>
            <a:ext cx="4572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黑体"/>
              </a:rPr>
              <a:t>测验分提升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1920240"/>
            <a:ext cx="27432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16A34A"/>
                </a:solidFill>
                <a:latin typeface="黑体"/>
              </a:rPr>
              <a:t>+18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2148840"/>
            <a:ext cx="9144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16A34A"/>
                </a:solidFill>
                <a:latin typeface="微软雅黑"/>
              </a:rPr>
              <a:t>分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66560" y="3063240"/>
            <a:ext cx="49377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766560" y="3063240"/>
            <a:ext cx="182880" cy="15087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0" y="3200400"/>
            <a:ext cx="4572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黑体"/>
              </a:rPr>
              <a:t>7天遗忘率下降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3611880"/>
            <a:ext cx="27432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2563EB"/>
                </a:solidFill>
                <a:latin typeface="黑体"/>
              </a:rPr>
              <a:t>-32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3840480"/>
            <a:ext cx="9144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2563EB"/>
                </a:solidFill>
                <a:latin typeface="微软雅黑"/>
              </a:rPr>
              <a:t>pp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766560" y="4754880"/>
            <a:ext cx="49377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766560" y="4754880"/>
            <a:ext cx="182880" cy="150876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40880" y="4892040"/>
            <a:ext cx="4572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黑体"/>
              </a:rPr>
              <a:t>学习兴趣提升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5303520"/>
            <a:ext cx="27432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EA580C"/>
                </a:solidFill>
                <a:latin typeface="黑体"/>
              </a:rPr>
              <a:t>+45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0" y="5532120"/>
            <a:ext cx="9144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EA580C"/>
                </a:solidFill>
                <a:latin typeface="微软雅黑"/>
              </a:rPr>
              <a:t>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微软雅黑"/>
              </a:rPr>
              <a:t>* 数据为占位示例，请教师按实际课堂试用结果替换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黑体"/>
              </a:rPr>
              <a:t>影响力与共享  |  Outreach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6576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57600" cy="73152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36576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黑体"/>
              </a:rPr>
              <a:t>代码开源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108960" cy="2286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0F172A"/>
                </a:solidFill>
                <a:latin typeface="微软雅黑"/>
              </a:rPr>
              <a:t>GitHub 仓库公开
所有源码 + 11 条 AI 提示词
Markdown 详细文档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4754880"/>
            <a:ext cx="1371600" cy="9144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0200" y="4754880"/>
            <a:ext cx="137160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微软雅黑"/>
              </a:rPr>
              <a:t>[ 占位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1500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微软雅黑"/>
              </a:rPr>
              <a:t>https://github.com/__/ai-yingyu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295" y="1371600"/>
            <a:ext cx="36576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19295" y="1371600"/>
            <a:ext cx="3657600" cy="7315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9295" y="1417320"/>
            <a:ext cx="36576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黑体"/>
              </a:rPr>
              <a:t>国家平台共享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3615" y="2377440"/>
            <a:ext cx="3108960" cy="2286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0F172A"/>
                </a:solidFill>
                <a:latin typeface="微软雅黑"/>
              </a:rPr>
              <a:t>已勾选共享至
国家智慧教育公共
服务平台 smartedu.cn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62295" y="4754880"/>
            <a:ext cx="1371600" cy="9144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62295" y="4754880"/>
            <a:ext cx="137160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微软雅黑"/>
              </a:rPr>
              <a:t>[ 占位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9295" y="571500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0D9488"/>
                </a:solidFill>
                <a:latin typeface="微软雅黑"/>
              </a:rPr>
              <a:t>smartedu.cn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81390" y="1371600"/>
            <a:ext cx="36576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1390" y="1371600"/>
            <a:ext cx="3657600" cy="73152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1390" y="1417320"/>
            <a:ext cx="36576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黑体"/>
              </a:rPr>
              <a:t>一线试用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5710" y="2377440"/>
            <a:ext cx="3108960" cy="2286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500" b="0">
                <a:solidFill>
                  <a:srgbClr val="0F172A"/>
                </a:solidFill>
                <a:latin typeface="微软雅黑"/>
              </a:rPr>
              <a:t>＿ 所学校
＿ 个班级
＿ 名学生在用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24390" y="4754880"/>
            <a:ext cx="1371600" cy="9144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24390" y="4754880"/>
            <a:ext cx="137160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微软雅黑"/>
              </a:rPr>
              <a:t>[ 占位 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1390" y="571500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EA580C"/>
                </a:solidFill>
                <a:latin typeface="微软雅黑"/>
              </a:rPr>
              <a:t>持续扩展中...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914400"/>
            <a:ext cx="914400" cy="914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29800" y="4800600"/>
            <a:ext cx="1371600" cy="13716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98480" y="64008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黑体"/>
              </a:rPr>
              <a:t>Thank You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36289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200" b="0">
                <a:solidFill>
                  <a:srgbClr val="CCFBF1"/>
                </a:solidFill>
                <a:latin typeface="微软雅黑"/>
              </a:rPr>
              <a:t>感谢观看  期待与各位英语教师交流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4297680"/>
            <a:ext cx="5790895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4434840"/>
            <a:ext cx="579089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0D9488"/>
                </a:solidFill>
                <a:latin typeface="黑体"/>
              </a:rPr>
              <a:t>联系作者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846320"/>
            <a:ext cx="579089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0F172A"/>
                </a:solidFill>
                <a:latin typeface="微软雅黑"/>
              </a:rPr>
              <a:t>邮箱: ＿＿＿@＿＿＿  |  电话: ＿＿＿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5212080"/>
            <a:ext cx="579089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475569"/>
                </a:solidFill>
                <a:latin typeface="微软雅黑"/>
              </a:rPr>
              <a:t>GitHub: github.com/__/ai-yingyu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035040"/>
            <a:ext cx="1036289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CCFBF1"/>
                </a:solidFill>
                <a:latin typeface="微软雅黑"/>
              </a:rPr>
              <a:t>★ 本视频解说为本人录制，未使用 AI 语音合成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355080"/>
            <a:ext cx="1036289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CCFBF1"/>
                </a:solidFill>
                <a:latin typeface="微软雅黑"/>
              </a:rPr>
              <a:t>★ 演示中 AI 模型识别画面已标注「AI 生成」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